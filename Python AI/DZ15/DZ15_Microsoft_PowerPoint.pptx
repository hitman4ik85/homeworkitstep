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6F5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672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2C2565D-B7D6-4B8F-AF6B-E57020F100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dirty="0" err="1">
                <a:solidFill>
                  <a:srgbClr val="76F53D"/>
                </a:solidFill>
                <a:effectLst>
                  <a:glow rad="254000">
                    <a:schemeClr val="accent1">
                      <a:satMod val="175000"/>
                      <a:alpha val="68000"/>
                    </a:schemeClr>
                  </a:glow>
                </a:effectLst>
              </a:rPr>
              <a:t>Порівняння</a:t>
            </a:r>
            <a:r>
              <a:rPr b="1" dirty="0">
                <a:solidFill>
                  <a:srgbClr val="76F53D"/>
                </a:solidFill>
                <a:effectLst>
                  <a:glow rad="254000">
                    <a:schemeClr val="accent1">
                      <a:satMod val="175000"/>
                      <a:alpha val="68000"/>
                    </a:schemeClr>
                  </a:glow>
                </a:effectLst>
              </a:rPr>
              <a:t>: </a:t>
            </a:r>
            <a:r>
              <a:rPr b="1" dirty="0" err="1">
                <a:solidFill>
                  <a:srgbClr val="76F53D"/>
                </a:solidFill>
                <a:effectLst>
                  <a:glow rad="254000">
                    <a:schemeClr val="accent1">
                      <a:satMod val="175000"/>
                      <a:alpha val="68000"/>
                    </a:schemeClr>
                  </a:glow>
                </a:effectLst>
              </a:rPr>
              <a:t>numpy.array</a:t>
            </a:r>
            <a:r>
              <a:rPr b="1" dirty="0">
                <a:solidFill>
                  <a:srgbClr val="76F53D"/>
                </a:solidFill>
                <a:effectLst>
                  <a:glow rad="254000">
                    <a:schemeClr val="accent1">
                      <a:satMod val="175000"/>
                      <a:alpha val="68000"/>
                    </a:schemeClr>
                  </a:glow>
                </a:effectLst>
              </a:rPr>
              <a:t>, </a:t>
            </a:r>
            <a:r>
              <a:rPr b="1" dirty="0" err="1">
                <a:solidFill>
                  <a:srgbClr val="76F53D"/>
                </a:solidFill>
                <a:effectLst>
                  <a:glow rad="254000">
                    <a:schemeClr val="accent1">
                      <a:satMod val="175000"/>
                      <a:alpha val="68000"/>
                    </a:schemeClr>
                  </a:glow>
                </a:effectLst>
              </a:rPr>
              <a:t>pandas.DataFrame</a:t>
            </a:r>
            <a:r>
              <a:rPr b="1" dirty="0">
                <a:solidFill>
                  <a:srgbClr val="76F53D"/>
                </a:solidFill>
                <a:effectLst>
                  <a:glow rad="254000">
                    <a:schemeClr val="accent1">
                      <a:satMod val="175000"/>
                      <a:alpha val="68000"/>
                    </a:schemeClr>
                  </a:glow>
                </a:effectLst>
              </a:rPr>
              <a:t>, </a:t>
            </a:r>
            <a:r>
              <a:rPr b="1" dirty="0" err="1">
                <a:solidFill>
                  <a:srgbClr val="76F53D"/>
                </a:solidFill>
                <a:effectLst>
                  <a:glow rad="254000">
                    <a:schemeClr val="accent1">
                      <a:satMod val="175000"/>
                      <a:alpha val="68000"/>
                    </a:schemeClr>
                  </a:glow>
                </a:effectLst>
              </a:rPr>
              <a:t>torch.tensor</a:t>
            </a:r>
            <a:endParaRPr b="1" dirty="0">
              <a:solidFill>
                <a:srgbClr val="76F53D"/>
              </a:solidFill>
              <a:effectLst>
                <a:glow rad="254000">
                  <a:schemeClr val="accent1">
                    <a:satMod val="175000"/>
                    <a:alpha val="68000"/>
                  </a:schemeClr>
                </a:glo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b="1" dirty="0" err="1">
                <a:solidFill>
                  <a:schemeClr val="accent6"/>
                </a:solidFill>
                <a:effectLst>
                  <a:glow rad="254000">
                    <a:schemeClr val="accent2">
                      <a:satMod val="175000"/>
                      <a:alpha val="68000"/>
                    </a:schemeClr>
                  </a:glow>
                </a:effectLst>
              </a:rPr>
              <a:t>Наукові</a:t>
            </a:r>
            <a:r>
              <a:rPr b="1" dirty="0">
                <a:solidFill>
                  <a:schemeClr val="accent6"/>
                </a:solidFill>
                <a:effectLst>
                  <a:glow rad="254000">
                    <a:schemeClr val="accent2">
                      <a:satMod val="175000"/>
                      <a:alpha val="68000"/>
                    </a:schemeClr>
                  </a:glow>
                </a:effectLst>
              </a:rPr>
              <a:t> </a:t>
            </a:r>
            <a:r>
              <a:rPr b="1" dirty="0" err="1">
                <a:solidFill>
                  <a:schemeClr val="accent6"/>
                </a:solidFill>
                <a:effectLst>
                  <a:glow rad="254000">
                    <a:schemeClr val="accent2">
                      <a:satMod val="175000"/>
                      <a:alpha val="68000"/>
                    </a:schemeClr>
                  </a:glow>
                </a:effectLst>
              </a:rPr>
              <a:t>обчислення</a:t>
            </a:r>
            <a:r>
              <a:rPr b="1" dirty="0">
                <a:solidFill>
                  <a:schemeClr val="accent6"/>
                </a:solidFill>
                <a:effectLst>
                  <a:glow rad="254000">
                    <a:schemeClr val="accent2">
                      <a:satMod val="175000"/>
                      <a:alpha val="68000"/>
                    </a:schemeClr>
                  </a:glow>
                </a:effectLst>
              </a:rPr>
              <a:t> </a:t>
            </a:r>
            <a:r>
              <a:rPr b="1" dirty="0" err="1">
                <a:solidFill>
                  <a:schemeClr val="accent6"/>
                </a:solidFill>
                <a:effectLst>
                  <a:glow rad="254000">
                    <a:schemeClr val="accent2">
                      <a:satMod val="175000"/>
                      <a:alpha val="68000"/>
                    </a:schemeClr>
                  </a:glow>
                </a:effectLst>
              </a:rPr>
              <a:t>та</a:t>
            </a:r>
            <a:r>
              <a:rPr b="1" dirty="0">
                <a:solidFill>
                  <a:schemeClr val="accent6"/>
                </a:solidFill>
                <a:effectLst>
                  <a:glow rad="254000">
                    <a:schemeClr val="accent2">
                      <a:satMod val="175000"/>
                      <a:alpha val="68000"/>
                    </a:schemeClr>
                  </a:glow>
                </a:effectLst>
              </a:rPr>
              <a:t> </a:t>
            </a:r>
            <a:r>
              <a:rPr b="1" dirty="0" err="1">
                <a:solidFill>
                  <a:schemeClr val="accent6"/>
                </a:solidFill>
                <a:effectLst>
                  <a:glow rad="254000">
                    <a:schemeClr val="accent2">
                      <a:satMod val="175000"/>
                      <a:alpha val="68000"/>
                    </a:schemeClr>
                  </a:glow>
                </a:effectLst>
              </a:rPr>
              <a:t>нейромережі</a:t>
            </a:r>
            <a:r>
              <a:rPr b="1" dirty="0">
                <a:solidFill>
                  <a:schemeClr val="accent6"/>
                </a:solidFill>
                <a:effectLst>
                  <a:glow rad="254000">
                    <a:schemeClr val="accent2">
                      <a:satMod val="175000"/>
                      <a:alpha val="68000"/>
                    </a:schemeClr>
                  </a:glow>
                </a:effectLst>
              </a:rPr>
              <a:t> (GPU/CUDA)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8D36A73-9A00-4175-9752-BB33102F93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740946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5400" b="1" dirty="0" err="1">
                <a:solidFill>
                  <a:srgbClr val="76F53D"/>
                </a:solidFill>
                <a:effectLst>
                  <a:glow rad="254000">
                    <a:schemeClr val="accent1">
                      <a:satMod val="175000"/>
                      <a:alpha val="68000"/>
                    </a:schemeClr>
                  </a:glow>
                </a:effectLst>
              </a:rPr>
              <a:t>numpy.array</a:t>
            </a:r>
            <a:endParaRPr sz="5400" b="1" dirty="0">
              <a:solidFill>
                <a:srgbClr val="76F53D"/>
              </a:solidFill>
              <a:effectLst>
                <a:glow rad="254000">
                  <a:schemeClr val="accent1">
                    <a:satMod val="175000"/>
                    <a:alpha val="68000"/>
                  </a:schemeClr>
                </a:glo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102338" cy="4525963"/>
          </a:xfrm>
        </p:spPr>
        <p:txBody>
          <a:bodyPr>
            <a:normAutofit/>
          </a:bodyPr>
          <a:lstStyle/>
          <a:p>
            <a:pPr>
              <a:defRPr sz="2400"/>
            </a:pP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Базовий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багатовимірний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масив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 у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науковому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 Python.</a:t>
            </a:r>
          </a:p>
          <a:p>
            <a:pPr>
              <a:defRPr sz="2400"/>
            </a:pP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Швидкі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векторизовані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операції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: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лінійна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алгебра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,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статистика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,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чисельні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методи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.</a:t>
            </a:r>
          </a:p>
          <a:p>
            <a:pPr>
              <a:defRPr sz="2400"/>
            </a:pP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Є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основою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для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багатьох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бібліотек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 (pandas,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scipy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, scikit-learn).</a:t>
            </a:r>
          </a:p>
          <a:p>
            <a:pPr>
              <a:defRPr sz="2400"/>
            </a:pP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Працює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переважно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на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 CPU;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для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 GPU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використовують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cupy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,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numba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та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інші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рішення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3A7CA89-9F9B-4318-9657-FF4C02E002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5400" b="1" dirty="0" err="1">
                <a:solidFill>
                  <a:srgbClr val="76F53D"/>
                </a:solidFill>
                <a:effectLst>
                  <a:glow rad="254000">
                    <a:schemeClr val="accent1">
                      <a:satMod val="175000"/>
                      <a:alpha val="68000"/>
                    </a:schemeClr>
                  </a:glow>
                </a:effectLst>
              </a:rPr>
              <a:t>pandas.DataFrame</a:t>
            </a:r>
            <a:endParaRPr sz="5400" b="1" dirty="0">
              <a:solidFill>
                <a:srgbClr val="76F53D"/>
              </a:solidFill>
              <a:effectLst>
                <a:glow rad="254000">
                  <a:schemeClr val="accent1">
                    <a:satMod val="175000"/>
                    <a:alpha val="68000"/>
                  </a:schemeClr>
                </a:glo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400"/>
            </a:pP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Таблична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структура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даних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 (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рядки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 ×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стовпчики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)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над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numpy.array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.</a:t>
            </a:r>
          </a:p>
          <a:p>
            <a:pPr>
              <a:defRPr sz="2400"/>
            </a:pP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Зручні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імена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колонок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,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різні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типи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даних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,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підтримка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пропусків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 (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NaN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).</a:t>
            </a:r>
          </a:p>
          <a:p>
            <a:pPr>
              <a:defRPr sz="2400"/>
            </a:pP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Фільтрація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,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групування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,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агрегування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 —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етап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попередньої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обробки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даних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.</a:t>
            </a:r>
          </a:p>
          <a:p>
            <a:pPr>
              <a:defRPr sz="2400"/>
            </a:pP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Перед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навчанням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нейромережі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дані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зазвичай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перетворюють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 у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numpy.array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або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torch.tensor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4251613-D5CB-4DBB-B4DA-DFF6A163A8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5400" b="1" dirty="0" err="1">
                <a:solidFill>
                  <a:srgbClr val="76F53D"/>
                </a:solidFill>
                <a:effectLst>
                  <a:glow rad="254000">
                    <a:schemeClr val="accent1">
                      <a:satMod val="175000"/>
                      <a:alpha val="68000"/>
                    </a:schemeClr>
                  </a:glow>
                </a:effectLst>
              </a:rPr>
              <a:t>torch.tensor</a:t>
            </a:r>
            <a:r>
              <a:rPr sz="5400" b="1" dirty="0">
                <a:solidFill>
                  <a:srgbClr val="76F53D"/>
                </a:solidFill>
                <a:effectLst>
                  <a:glow rad="254000">
                    <a:schemeClr val="accent1">
                      <a:satMod val="175000"/>
                      <a:alpha val="68000"/>
                    </a:schemeClr>
                  </a:glow>
                </a:effectLst>
              </a:rPr>
              <a:t> </a:t>
            </a:r>
            <a:r>
              <a:rPr sz="5400" b="1" dirty="0" err="1">
                <a:solidFill>
                  <a:srgbClr val="76F53D"/>
                </a:solidFill>
                <a:effectLst>
                  <a:glow rad="254000">
                    <a:schemeClr val="accent1">
                      <a:satMod val="175000"/>
                      <a:alpha val="68000"/>
                    </a:schemeClr>
                  </a:glow>
                </a:effectLst>
              </a:rPr>
              <a:t>та</a:t>
            </a:r>
            <a:r>
              <a:rPr sz="5400" b="1" dirty="0">
                <a:solidFill>
                  <a:srgbClr val="76F53D"/>
                </a:solidFill>
                <a:effectLst>
                  <a:glow rad="254000">
                    <a:schemeClr val="accent1">
                      <a:satMod val="175000"/>
                      <a:alpha val="68000"/>
                    </a:schemeClr>
                  </a:glow>
                </a:effectLst>
              </a:rPr>
              <a:t> GPU/CUDA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effectLst/>
        </p:spPr>
        <p:txBody>
          <a:bodyPr>
            <a:normAutofit/>
          </a:bodyPr>
          <a:lstStyle/>
          <a:p>
            <a:pPr>
              <a:defRPr sz="2400"/>
            </a:pP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1">
                      <a:satMod val="175000"/>
                      <a:alpha val="68000"/>
                    </a:schemeClr>
                  </a:glow>
                </a:effectLst>
              </a:rPr>
              <a:t>Основний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1">
                      <a:satMod val="175000"/>
                      <a:alpha val="68000"/>
                    </a:schemeClr>
                  </a:glow>
                </a:effectLst>
              </a:rPr>
              <a:t>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1">
                      <a:satMod val="175000"/>
                      <a:alpha val="68000"/>
                    </a:schemeClr>
                  </a:glow>
                </a:effectLst>
              </a:rPr>
              <a:t>тип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1">
                      <a:satMod val="175000"/>
                      <a:alpha val="68000"/>
                    </a:schemeClr>
                  </a:glow>
                </a:effectLst>
              </a:rPr>
              <a:t>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1">
                      <a:satMod val="175000"/>
                      <a:alpha val="68000"/>
                    </a:schemeClr>
                  </a:glow>
                </a:effectLst>
              </a:rPr>
              <a:t>даних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1">
                      <a:satMod val="175000"/>
                      <a:alpha val="68000"/>
                    </a:schemeClr>
                  </a:glow>
                </a:effectLst>
              </a:rPr>
              <a:t> у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1">
                      <a:satMod val="175000"/>
                      <a:alpha val="68000"/>
                    </a:schemeClr>
                  </a:glow>
                </a:effectLst>
              </a:rPr>
              <a:t>PyTorch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1">
                      <a:satMod val="175000"/>
                      <a:alpha val="68000"/>
                    </a:schemeClr>
                  </a:glow>
                </a:effectLst>
              </a:rPr>
              <a:t> —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1">
                      <a:satMod val="175000"/>
                      <a:alpha val="68000"/>
                    </a:schemeClr>
                  </a:glow>
                </a:effectLst>
              </a:rPr>
              <a:t>тензор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1">
                      <a:satMod val="175000"/>
                      <a:alpha val="68000"/>
                    </a:schemeClr>
                  </a:glow>
                </a:effectLst>
              </a:rPr>
              <a:t> (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1">
                      <a:satMod val="175000"/>
                      <a:alpha val="68000"/>
                    </a:schemeClr>
                  </a:glow>
                </a:effectLst>
              </a:rPr>
              <a:t>узагальнення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1">
                      <a:satMod val="175000"/>
                      <a:alpha val="68000"/>
                    </a:schemeClr>
                  </a:glow>
                </a:effectLst>
              </a:rPr>
              <a:t>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1">
                      <a:satMod val="175000"/>
                      <a:alpha val="68000"/>
                    </a:schemeClr>
                  </a:glow>
                </a:effectLst>
              </a:rPr>
              <a:t>вектора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1">
                      <a:satMod val="175000"/>
                      <a:alpha val="68000"/>
                    </a:schemeClr>
                  </a:glow>
                </a:effectLst>
              </a:rPr>
              <a:t>/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1">
                      <a:satMod val="175000"/>
                      <a:alpha val="68000"/>
                    </a:schemeClr>
                  </a:glow>
                </a:effectLst>
              </a:rPr>
              <a:t>матриці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1">
                      <a:satMod val="175000"/>
                      <a:alpha val="68000"/>
                    </a:schemeClr>
                  </a:glow>
                </a:effectLst>
              </a:rPr>
              <a:t>).</a:t>
            </a:r>
          </a:p>
          <a:p>
            <a:pPr>
              <a:defRPr sz="2400"/>
            </a:pP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1">
                      <a:satMod val="175000"/>
                      <a:alpha val="68000"/>
                    </a:schemeClr>
                  </a:glow>
                </a:effectLst>
              </a:rPr>
              <a:t>Може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1">
                      <a:satMod val="175000"/>
                      <a:alpha val="68000"/>
                    </a:schemeClr>
                  </a:glow>
                </a:effectLst>
              </a:rPr>
              <a:t>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1">
                      <a:satMod val="175000"/>
                      <a:alpha val="68000"/>
                    </a:schemeClr>
                  </a:glow>
                </a:effectLst>
              </a:rPr>
              <a:t>зберігати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1">
                      <a:satMod val="175000"/>
                      <a:alpha val="68000"/>
                    </a:schemeClr>
                  </a:glow>
                </a:effectLst>
              </a:rPr>
              <a:t>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1">
                      <a:satMod val="175000"/>
                      <a:alpha val="68000"/>
                    </a:schemeClr>
                  </a:glow>
                </a:effectLst>
              </a:rPr>
              <a:t>дані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1">
                      <a:satMod val="175000"/>
                      <a:alpha val="68000"/>
                    </a:schemeClr>
                  </a:glow>
                </a:effectLst>
              </a:rPr>
              <a:t>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1">
                      <a:satMod val="175000"/>
                      <a:alpha val="68000"/>
                    </a:schemeClr>
                  </a:glow>
                </a:effectLst>
              </a:rPr>
              <a:t>на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1">
                      <a:satMod val="175000"/>
                      <a:alpha val="68000"/>
                    </a:schemeClr>
                  </a:glow>
                </a:effectLst>
              </a:rPr>
              <a:t> CPU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1">
                      <a:satMod val="175000"/>
                      <a:alpha val="68000"/>
                    </a:schemeClr>
                  </a:glow>
                </a:effectLst>
              </a:rPr>
              <a:t>або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1">
                      <a:satMod val="175000"/>
                      <a:alpha val="68000"/>
                    </a:schemeClr>
                  </a:glow>
                </a:effectLst>
              </a:rPr>
              <a:t>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1">
                      <a:satMod val="175000"/>
                      <a:alpha val="68000"/>
                    </a:schemeClr>
                  </a:glow>
                </a:effectLst>
              </a:rPr>
              <a:t>на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1">
                      <a:satMod val="175000"/>
                      <a:alpha val="68000"/>
                    </a:schemeClr>
                  </a:glow>
                </a:effectLst>
              </a:rPr>
              <a:t> GPU: tensor.to('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1">
                      <a:satMod val="175000"/>
                      <a:alpha val="68000"/>
                    </a:schemeClr>
                  </a:glow>
                </a:effectLst>
              </a:rPr>
              <a:t>cuda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1">
                      <a:satMod val="175000"/>
                      <a:alpha val="68000"/>
                    </a:schemeClr>
                  </a:glow>
                </a:effectLst>
              </a:rPr>
              <a:t>').</a:t>
            </a:r>
          </a:p>
          <a:p>
            <a:pPr>
              <a:defRPr sz="2400"/>
            </a:pP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1">
                      <a:satMod val="175000"/>
                      <a:alpha val="68000"/>
                    </a:schemeClr>
                  </a:glow>
                </a:effectLst>
              </a:rPr>
              <a:t>Підтримує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1">
                      <a:satMod val="175000"/>
                      <a:alpha val="68000"/>
                    </a:schemeClr>
                  </a:glow>
                </a:effectLst>
              </a:rPr>
              <a:t>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1">
                      <a:satMod val="175000"/>
                      <a:alpha val="68000"/>
                    </a:schemeClr>
                  </a:glow>
                </a:effectLst>
              </a:rPr>
              <a:t>автоматичне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1">
                      <a:satMod val="175000"/>
                      <a:alpha val="68000"/>
                    </a:schemeClr>
                  </a:glow>
                </a:effectLst>
              </a:rPr>
              <a:t>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1">
                      <a:satMod val="175000"/>
                      <a:alpha val="68000"/>
                    </a:schemeClr>
                  </a:glow>
                </a:effectLst>
              </a:rPr>
              <a:t>диференціювання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1">
                      <a:satMod val="175000"/>
                      <a:alpha val="68000"/>
                    </a:schemeClr>
                  </a:glow>
                </a:effectLst>
              </a:rPr>
              <a:t> (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1">
                      <a:satMod val="175000"/>
                      <a:alpha val="68000"/>
                    </a:schemeClr>
                  </a:glow>
                </a:effectLst>
              </a:rPr>
              <a:t>autograd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1">
                      <a:satMod val="175000"/>
                      <a:alpha val="68000"/>
                    </a:schemeClr>
                  </a:glow>
                </a:effectLst>
              </a:rPr>
              <a:t>)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1">
                      <a:satMod val="175000"/>
                      <a:alpha val="68000"/>
                    </a:schemeClr>
                  </a:glow>
                </a:effectLst>
              </a:rPr>
              <a:t>для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1">
                      <a:satMod val="175000"/>
                      <a:alpha val="68000"/>
                    </a:schemeClr>
                  </a:glow>
                </a:effectLst>
              </a:rPr>
              <a:t>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1">
                      <a:satMod val="175000"/>
                      <a:alpha val="68000"/>
                    </a:schemeClr>
                  </a:glow>
                </a:effectLst>
              </a:rPr>
              <a:t>навчання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1">
                      <a:satMod val="175000"/>
                      <a:alpha val="68000"/>
                    </a:schemeClr>
                  </a:glow>
                </a:effectLst>
              </a:rPr>
              <a:t>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1">
                      <a:satMod val="175000"/>
                      <a:alpha val="68000"/>
                    </a:schemeClr>
                  </a:glow>
                </a:effectLst>
              </a:rPr>
              <a:t>нейромереж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1">
                      <a:satMod val="175000"/>
                      <a:alpha val="68000"/>
                    </a:schemeClr>
                  </a:glow>
                </a:effectLst>
              </a:rPr>
              <a:t>.</a:t>
            </a:r>
          </a:p>
          <a:p>
            <a:pPr>
              <a:defRPr sz="2400"/>
            </a:pP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1">
                      <a:satMod val="175000"/>
                      <a:alpha val="68000"/>
                    </a:schemeClr>
                  </a:glow>
                </a:effectLst>
              </a:rPr>
              <a:t>Дозволяє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1">
                      <a:satMod val="175000"/>
                      <a:alpha val="68000"/>
                    </a:schemeClr>
                  </a:glow>
                </a:effectLst>
              </a:rPr>
              <a:t>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1">
                      <a:satMod val="175000"/>
                      <a:alpha val="68000"/>
                    </a:schemeClr>
                  </a:glow>
                </a:effectLst>
              </a:rPr>
              <a:t>запускати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1">
                      <a:satMod val="175000"/>
                      <a:alpha val="68000"/>
                    </a:schemeClr>
                  </a:glow>
                </a:effectLst>
              </a:rPr>
              <a:t>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1">
                      <a:satMod val="175000"/>
                      <a:alpha val="68000"/>
                    </a:schemeClr>
                  </a:glow>
                </a:effectLst>
              </a:rPr>
              <a:t>великі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1">
                      <a:satMod val="175000"/>
                      <a:alpha val="68000"/>
                    </a:schemeClr>
                  </a:glow>
                </a:effectLst>
              </a:rPr>
              <a:t>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1">
                      <a:satMod val="175000"/>
                      <a:alpha val="68000"/>
                    </a:schemeClr>
                  </a:glow>
                </a:effectLst>
              </a:rPr>
              <a:t>обчислення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1">
                      <a:satMod val="175000"/>
                      <a:alpha val="68000"/>
                    </a:schemeClr>
                  </a:glow>
                </a:effectLst>
              </a:rPr>
              <a:t>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1">
                      <a:satMod val="175000"/>
                      <a:alpha val="68000"/>
                    </a:schemeClr>
                  </a:glow>
                </a:effectLst>
              </a:rPr>
              <a:t>паралельно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1">
                      <a:satMod val="175000"/>
                      <a:alpha val="68000"/>
                    </a:schemeClr>
                  </a:glow>
                </a:effectLst>
              </a:rPr>
              <a:t>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1">
                      <a:satMod val="175000"/>
                      <a:alpha val="68000"/>
                    </a:schemeClr>
                  </a:glow>
                </a:effectLst>
              </a:rPr>
              <a:t>на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1">
                      <a:satMod val="175000"/>
                      <a:alpha val="68000"/>
                    </a:schemeClr>
                  </a:glow>
                </a:effectLst>
              </a:rPr>
              <a:t> GPU,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1">
                      <a:satMod val="175000"/>
                      <a:alpha val="68000"/>
                    </a:schemeClr>
                  </a:glow>
                </a:effectLst>
              </a:rPr>
              <a:t>що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1">
                      <a:satMod val="175000"/>
                      <a:alpha val="68000"/>
                    </a:schemeClr>
                  </a:glow>
                </a:effectLst>
              </a:rPr>
              <a:t>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1">
                      <a:satMod val="175000"/>
                      <a:alpha val="68000"/>
                    </a:schemeClr>
                  </a:glow>
                </a:effectLst>
              </a:rPr>
              <a:t>суттєво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1">
                      <a:satMod val="175000"/>
                      <a:alpha val="68000"/>
                    </a:schemeClr>
                  </a:glow>
                </a:effectLst>
              </a:rPr>
              <a:t>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1">
                      <a:satMod val="175000"/>
                      <a:alpha val="68000"/>
                    </a:schemeClr>
                  </a:glow>
                </a:effectLst>
              </a:rPr>
              <a:t>прискорює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1">
                      <a:satMod val="175000"/>
                      <a:alpha val="68000"/>
                    </a:schemeClr>
                  </a:glow>
                </a:effectLst>
              </a:rPr>
              <a:t>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1">
                      <a:satMod val="175000"/>
                      <a:alpha val="68000"/>
                    </a:schemeClr>
                  </a:glow>
                </a:effectLst>
              </a:rPr>
              <a:t>тренування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1">
                      <a:satMod val="175000"/>
                      <a:alpha val="68000"/>
                    </a:schemeClr>
                  </a:glow>
                </a:effectLst>
              </a:rPr>
              <a:t>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1">
                      <a:satMod val="175000"/>
                      <a:alpha val="68000"/>
                    </a:schemeClr>
                  </a:glow>
                </a:effectLst>
              </a:rPr>
              <a:t>моделей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1">
                      <a:satMod val="175000"/>
                      <a:alpha val="68000"/>
                    </a:schemeClr>
                  </a:glow>
                </a:effectLst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99A0445-3F11-4B27-8493-DCCD1C407E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5400" b="1" dirty="0" err="1">
                <a:solidFill>
                  <a:schemeClr val="tx2">
                    <a:lumMod val="75000"/>
                  </a:schemeClr>
                </a:solidFill>
                <a:effectLst>
                  <a:glow rad="254000">
                    <a:schemeClr val="accent1">
                      <a:satMod val="175000"/>
                      <a:alpha val="68000"/>
                    </a:schemeClr>
                  </a:glow>
                </a:effectLst>
              </a:rPr>
              <a:t>Порівняння</a:t>
            </a:r>
            <a:r>
              <a:rPr sz="5400" b="1" dirty="0">
                <a:solidFill>
                  <a:schemeClr val="tx2">
                    <a:lumMod val="75000"/>
                  </a:schemeClr>
                </a:solidFill>
                <a:effectLst>
                  <a:glow rad="254000">
                    <a:schemeClr val="accent1">
                      <a:satMod val="175000"/>
                      <a:alpha val="68000"/>
                    </a:schemeClr>
                  </a:glow>
                </a:effectLst>
              </a:rPr>
              <a:t> </a:t>
            </a:r>
            <a:r>
              <a:rPr sz="5400" b="1" dirty="0" err="1">
                <a:solidFill>
                  <a:schemeClr val="tx2">
                    <a:lumMod val="75000"/>
                  </a:schemeClr>
                </a:solidFill>
                <a:effectLst>
                  <a:glow rad="254000">
                    <a:schemeClr val="accent1">
                      <a:satMod val="175000"/>
                      <a:alpha val="68000"/>
                    </a:schemeClr>
                  </a:glow>
                </a:effectLst>
              </a:rPr>
              <a:t>та</a:t>
            </a:r>
            <a:r>
              <a:rPr sz="5400" b="1" dirty="0">
                <a:solidFill>
                  <a:schemeClr val="tx2">
                    <a:lumMod val="75000"/>
                  </a:schemeClr>
                </a:solidFill>
                <a:effectLst>
                  <a:glow rad="254000">
                    <a:schemeClr val="accent1">
                      <a:satMod val="175000"/>
                      <a:alpha val="68000"/>
                    </a:schemeClr>
                  </a:glow>
                </a:effectLst>
              </a:rPr>
              <a:t> </a:t>
            </a:r>
            <a:r>
              <a:rPr sz="5400" b="1" dirty="0" err="1">
                <a:solidFill>
                  <a:schemeClr val="tx2">
                    <a:lumMod val="75000"/>
                  </a:schemeClr>
                </a:solidFill>
                <a:effectLst>
                  <a:glow rad="254000">
                    <a:schemeClr val="accent1">
                      <a:satMod val="175000"/>
                      <a:alpha val="68000"/>
                    </a:schemeClr>
                  </a:glow>
                </a:effectLst>
              </a:rPr>
              <a:t>типовий</a:t>
            </a:r>
            <a:r>
              <a:rPr sz="5400" b="1" dirty="0">
                <a:solidFill>
                  <a:schemeClr val="tx2">
                    <a:lumMod val="75000"/>
                  </a:schemeClr>
                </a:solidFill>
                <a:effectLst>
                  <a:glow rad="254000">
                    <a:schemeClr val="accent1">
                      <a:satMod val="175000"/>
                      <a:alpha val="68000"/>
                    </a:schemeClr>
                  </a:glow>
                </a:effectLst>
              </a:rPr>
              <a:t> </a:t>
            </a:r>
            <a:r>
              <a:rPr sz="5400" b="1" dirty="0" err="1">
                <a:solidFill>
                  <a:schemeClr val="tx2">
                    <a:lumMod val="75000"/>
                  </a:schemeClr>
                </a:solidFill>
                <a:effectLst>
                  <a:glow rad="254000">
                    <a:schemeClr val="accent1">
                      <a:satMod val="175000"/>
                      <a:alpha val="68000"/>
                    </a:schemeClr>
                  </a:glow>
                </a:effectLst>
              </a:rPr>
              <a:t>пайплайн</a:t>
            </a:r>
            <a:endParaRPr sz="5400" b="1" dirty="0">
              <a:solidFill>
                <a:schemeClr val="tx2">
                  <a:lumMod val="75000"/>
                </a:schemeClr>
              </a:solidFill>
              <a:effectLst>
                <a:glow rad="254000">
                  <a:schemeClr val="accent1">
                    <a:satMod val="175000"/>
                    <a:alpha val="68000"/>
                  </a:schemeClr>
                </a:glo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400"/>
            </a:pP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numpy.array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: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числове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ядро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 —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симуляції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,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наукові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обчислення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,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матричні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операції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.</a:t>
            </a:r>
          </a:p>
          <a:p>
            <a:pPr>
              <a:defRPr sz="2400"/>
            </a:pP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pandas.DataFrame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: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аналітика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та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підготовка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сирих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даних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до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моделі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.</a:t>
            </a:r>
          </a:p>
          <a:p>
            <a:pPr>
              <a:defRPr sz="2400"/>
            </a:pP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torch.tensor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: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представлення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даних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усередині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нейромережі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,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тренування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на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 CPU/GPU.</a:t>
            </a:r>
          </a:p>
          <a:p>
            <a:pPr>
              <a:defRPr sz="2400"/>
            </a:pP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Типовий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сценарій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: CSV →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DataFrame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 →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очищення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/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фільтрація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 →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numpy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/tensor →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навчання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моделі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 </a:t>
            </a:r>
            <a:r>
              <a:rPr sz="2800" b="1" dirty="0" err="1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на</a:t>
            </a:r>
            <a:r>
              <a:rPr sz="2800" b="1" dirty="0">
                <a:solidFill>
                  <a:srgbClr val="FFFF00"/>
                </a:solidFill>
                <a:effectLst>
                  <a:glow rad="317500">
                    <a:schemeClr val="accent6">
                      <a:satMod val="175000"/>
                      <a:alpha val="68000"/>
                    </a:schemeClr>
                  </a:glow>
                </a:effectLst>
              </a:rPr>
              <a:t> GPU.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251</Words>
  <Application>Microsoft Office PowerPoint</Application>
  <PresentationFormat>Экран (4:3)</PresentationFormat>
  <Paragraphs>22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Порівняння: numpy.array, pandas.DataFrame, torch.tensor</vt:lpstr>
      <vt:lpstr>numpy.array</vt:lpstr>
      <vt:lpstr>pandas.DataFrame</vt:lpstr>
      <vt:lpstr>torch.tensor та GPU/CUDA</vt:lpstr>
      <vt:lpstr>Порівняння та типовий пайплайн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Порівняння: numpy.array, pandas.DataFrame, torch.tensor</dc:title>
  <dc:subject/>
  <dc:creator/>
  <cp:keywords/>
  <dc:description>generated using python-pptx</dc:description>
  <cp:lastModifiedBy>Уройченко Андрій Вікторович</cp:lastModifiedBy>
  <cp:revision>7</cp:revision>
  <dcterms:created xsi:type="dcterms:W3CDTF">2013-01-27T09:14:16Z</dcterms:created>
  <dcterms:modified xsi:type="dcterms:W3CDTF">2025-12-07T19:02:29Z</dcterms:modified>
  <cp:category/>
</cp:coreProperties>
</file>